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90" r:id="rId5"/>
    <p:sldId id="291" r:id="rId6"/>
    <p:sldId id="292" r:id="rId7"/>
    <p:sldId id="293" r:id="rId8"/>
    <p:sldId id="296" r:id="rId9"/>
    <p:sldId id="260" r:id="rId10"/>
    <p:sldId id="261" r:id="rId11"/>
    <p:sldId id="262" r:id="rId12"/>
    <p:sldId id="259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5" r:id="rId24"/>
    <p:sldId id="276" r:id="rId25"/>
    <p:sldId id="277" r:id="rId26"/>
    <p:sldId id="281" r:id="rId27"/>
    <p:sldId id="280" r:id="rId28"/>
    <p:sldId id="278" r:id="rId29"/>
    <p:sldId id="279" r:id="rId30"/>
    <p:sldId id="297" r:id="rId31"/>
    <p:sldId id="298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5C334-E18A-324F-2E9D-E60E72B9C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D2A5A1-C3C2-57C9-2567-A042FC2D9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7E0EF1-A9AB-28C5-F732-B1CEB478C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54D9FD-EDA0-CE23-D8D1-3736EF7F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5AC041-3964-722F-ADA1-688A7970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678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5D77D9-B08F-E511-6673-118B6D6C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48A8ED-CFEC-0BCF-1CEE-DC38AC223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91E8B3-772A-AD13-E5E3-9A4A66CAF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F49813-B55A-5D2A-1A2D-2CA32D15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7498EE-7DA4-51B6-CA60-BECCA1F0E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986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D35BAD-ECE1-94ED-D6B4-BB9458AA9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AB92FF-0980-3C4B-7573-8082B671A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CCBAF0-EFBF-D04B-4167-4D70ADE9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64B440-E7F0-DC3E-6BA9-6577778F6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891130-C386-8090-7F56-983143BF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241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373835-B551-8840-B7C3-E31CEFEEB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795A65-7D3E-0644-85AB-509A8EFAE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71F537-9784-11E0-2D29-291845036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1A820E-1217-5E51-F116-F3306989A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1BB132-A51A-8A9F-CDFC-77ECBD7EE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7EABD6-146B-69AE-B70C-D1AC34FF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5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49F6D-2B16-A614-3983-37E7BB3E5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669054-E346-9BA1-264F-31BBC246C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03FA60-FAF6-844E-FE03-1D96B57AC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1482C50-21B1-8D31-18A4-130C3DD629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226076-1387-76A2-F7EF-975EF5468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47754D3-E05A-C9F5-6BBE-EF0B3048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612EA20-E84D-BF76-E8B4-315C6F9F7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DC663B4-22C7-3A8E-0AA6-756F87F0A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613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FF931-9B01-764A-685E-AA4F083F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8B31F8D-D2EA-CB56-676C-CAF65C1E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454D3C-572E-011F-1E36-2F8DD334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0E79864-3FDA-7002-A79E-02C44A927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34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E1DBE9-0DB1-F5F5-866B-A5BFAC230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9CBF2A1-72AD-B1D6-2C6A-BAF7919F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13FC73-630B-ACF8-FA35-7979D9F4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266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779AD6-C181-F47C-0A64-D5728776E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999FB-0632-250C-1D85-0689FB278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D4913-3C2D-A411-0633-1E1AFD914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0BDDE2-CF8B-A7CE-DE00-30E3F3B0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AF067F-495C-5CB7-269A-0DB8C4233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EEDA75-D740-83C3-1FB6-67C4DEC36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651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DB650-92E6-6161-A509-AF75B4AC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2259D1E-E26E-3ACB-1A2E-6D7EC4779F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E326B70-1E10-2FF1-68B1-37BAEC62A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962DB9F-2A80-BE46-8EF4-6EDD7EDEF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BC7669-54AE-A754-A489-56364E40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8D3A00-CF9B-BD8B-E78A-4068273D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066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5B786-F067-6A40-7A41-8FF3395F8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A499E9-B542-C4F2-970E-9D32BF4B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003EE0-DA0B-F4C1-2B89-B48FC210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EFDB83-F521-96E0-1E5B-F152EAED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173DEB-AD73-C2EA-2568-FB6B92A22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126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0E03294-BBF2-EC6C-0174-2CDCC934F5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2CBCB-B302-1E0D-C12C-59E2FAB52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8F8C84-07E4-A67A-1AB2-138CA2B4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F9004E-2BF7-8B44-28D1-CC2F3D9E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B5917C-3801-1B22-29E8-84AD2BF6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27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43465E4-5C8A-64EA-48FD-21F0E195A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0D04B3-6459-7FE4-00FE-C28394E21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AB3F9E-795F-338C-C94D-70E786174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2C97C-252E-49AA-85EA-8456E730559E}" type="datetimeFigureOut">
              <a:rPr lang="pt-BR" smtClean="0"/>
              <a:t>29/05/2026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96E696-8588-AB74-6E02-ADE99457F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4D0371-2855-454D-57F8-BFE7F4C2B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D83853-C2C9-41DB-9E0A-B7D3854B10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0160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D3279-8244-2AC8-A3B9-ABA7E5DE93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Criando a classe Conta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010C51-40DC-F276-D409-32B821BB97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Objetivos:</a:t>
            </a:r>
          </a:p>
          <a:p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Criacao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Classe</a:t>
            </a:r>
          </a:p>
          <a:p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Criacao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 Métodos</a:t>
            </a:r>
          </a:p>
          <a:p>
            <a:r>
              <a:rPr lang="pt-BR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Parametros</a:t>
            </a:r>
            <a:endParaRPr lang="pt-BR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Instancia de Classe</a:t>
            </a:r>
          </a:p>
        </p:txBody>
      </p:sp>
    </p:spTree>
    <p:extLst>
      <p:ext uri="{BB962C8B-B14F-4D97-AF65-F5344CB8AC3E}">
        <p14:creationId xmlns:p14="http://schemas.microsoft.com/office/powerpoint/2010/main" val="216417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1F6E-20F5-0A85-1B9F-9A96F69FD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>
                <a:solidFill>
                  <a:schemeClr val="bg1"/>
                </a:solidFill>
              </a:rPr>
              <a:t>Métodos com parâmetros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794AB9-1EA0-1FA4-566F-09740B593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Você foi contratado para construir uma aplicação bancária.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a primeira classe projetada foi a classe Conta com os atributos cliente e saldo.</a:t>
            </a:r>
          </a:p>
          <a:p>
            <a:pPr marL="0" indent="0">
              <a:buNone/>
            </a:pP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 são as propriedades 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 classe. 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 a classe Conta poderão ser realizadas as seguintes operações: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Exibir o saldo - Sacar um valor - Depositar um valor .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Essas operações são chamados de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métodos</a:t>
            </a: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Métodos exprimem uma ação. Por isso os nomes dos métodos são expressos por verbos.</a:t>
            </a:r>
          </a:p>
        </p:txBody>
      </p:sp>
    </p:spTree>
    <p:extLst>
      <p:ext uri="{BB962C8B-B14F-4D97-AF65-F5344CB8AC3E}">
        <p14:creationId xmlns:p14="http://schemas.microsoft.com/office/powerpoint/2010/main" val="2767003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0FCF7-34BB-A349-912A-3F9B6F8AA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D31F10D2-E625-87D0-3F03-6940F55AC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761380-2ADD-7120-3696-3242EC752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7202214" cy="435133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680BB46B-289A-6C7C-45CE-4E69DA315ED5}"/>
              </a:ext>
            </a:extLst>
          </p:cNvPr>
          <p:cNvSpPr txBox="1"/>
          <p:nvPr/>
        </p:nvSpPr>
        <p:spPr>
          <a:xfrm>
            <a:off x="8325507" y="474345"/>
            <a:ext cx="3028293" cy="59093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Uma classe tem que ter essas partes: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</a:t>
            </a:r>
            <a:r>
              <a:rPr lang="pt-BR" dirty="0"/>
              <a:t>: sempre começa com letra maiúscula.</a:t>
            </a:r>
          </a:p>
          <a:p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</a:t>
            </a:r>
            <a:r>
              <a:rPr lang="pt-BR" dirty="0"/>
              <a:t>: as propriedades sempre começam com letra minúscula e a primeira letra da palavra seguinte </a:t>
            </a:r>
            <a:r>
              <a:rPr lang="pt-BR" dirty="0" err="1"/>
              <a:t>sera</a:t>
            </a:r>
            <a:r>
              <a:rPr lang="pt-BR" dirty="0"/>
              <a:t> </a:t>
            </a:r>
            <a:r>
              <a:rPr lang="pt-BR" dirty="0" err="1"/>
              <a:t>maiucula</a:t>
            </a:r>
            <a:r>
              <a:rPr lang="pt-BR" dirty="0"/>
              <a:t>. </a:t>
            </a:r>
          </a:p>
          <a:p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Metodos</a:t>
            </a:r>
            <a:r>
              <a:rPr lang="pt-BR" dirty="0"/>
              <a:t>: as ações que a classe irá executar. O nome sempre começa com letra minúscula e a primeira letra da palavra seguinte </a:t>
            </a:r>
            <a:r>
              <a:rPr lang="pt-BR" dirty="0" err="1"/>
              <a:t>sera</a:t>
            </a:r>
            <a:r>
              <a:rPr lang="pt-BR" dirty="0"/>
              <a:t> </a:t>
            </a:r>
            <a:r>
              <a:rPr lang="pt-BR" dirty="0" err="1"/>
              <a:t>maiucula</a:t>
            </a:r>
            <a:r>
              <a:rPr lang="pt-BR" dirty="0"/>
              <a:t>. </a:t>
            </a:r>
            <a:r>
              <a:rPr lang="pt-BR" dirty="0" err="1"/>
              <a:t>Alem</a:t>
            </a:r>
            <a:r>
              <a:rPr lang="pt-BR" dirty="0"/>
              <a:t> do nome, tem que ter os parênteses e um retorno.</a:t>
            </a:r>
          </a:p>
          <a:p>
            <a:r>
              <a:rPr lang="pt-BR" dirty="0"/>
              <a:t>Se não tiver retorno temos que escrever a palavra </a:t>
            </a:r>
            <a:r>
              <a:rPr lang="pt-BR" dirty="0" err="1"/>
              <a:t>void</a:t>
            </a:r>
            <a:endParaRPr lang="pt-BR" dirty="0"/>
          </a:p>
          <a:p>
            <a:r>
              <a:rPr lang="pt-BR" dirty="0" err="1"/>
              <a:t>Void</a:t>
            </a:r>
            <a:r>
              <a:rPr lang="pt-BR" dirty="0"/>
              <a:t> significa que o método não tem retorno.</a:t>
            </a:r>
          </a:p>
        </p:txBody>
      </p:sp>
    </p:spTree>
    <p:extLst>
      <p:ext uri="{BB962C8B-B14F-4D97-AF65-F5344CB8AC3E}">
        <p14:creationId xmlns:p14="http://schemas.microsoft.com/office/powerpoint/2010/main" val="2093632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4AE90-8129-5DD7-8C0A-20CCFBB3C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3EFD76A-9473-2C09-D187-2F4F28EB24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AD880D5-E43E-FEBF-2911-9FC9C8FD70EA}"/>
              </a:ext>
            </a:extLst>
          </p:cNvPr>
          <p:cNvSpPr txBox="1"/>
          <p:nvPr/>
        </p:nvSpPr>
        <p:spPr>
          <a:xfrm>
            <a:off x="8849532" y="2828835"/>
            <a:ext cx="2504268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Criando o projeto,  vamos chamar de </a:t>
            </a:r>
            <a:r>
              <a:rPr lang="pt-BR" dirty="0" err="1"/>
              <a:t>ContaTest</a:t>
            </a:r>
            <a:r>
              <a:rPr lang="pt-BR" dirty="0"/>
              <a:t>, e pedir para criar a </a:t>
            </a:r>
            <a:r>
              <a:rPr lang="pt-BR" dirty="0" err="1"/>
              <a:t>Main</a:t>
            </a:r>
            <a:r>
              <a:rPr lang="pt-BR" dirty="0"/>
              <a:t> </a:t>
            </a:r>
            <a:r>
              <a:rPr lang="pt-BR" dirty="0" err="1"/>
              <a:t>class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9169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3F333-307D-01BE-7B48-32A792640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ED9500-1AEA-B68F-A833-E94A5876D90F}"/>
              </a:ext>
            </a:extLst>
          </p:cNvPr>
          <p:cNvSpPr txBox="1"/>
          <p:nvPr/>
        </p:nvSpPr>
        <p:spPr>
          <a:xfrm>
            <a:off x="8849532" y="2551837"/>
            <a:ext cx="2504268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Vai ser criada a classe </a:t>
            </a:r>
            <a:r>
              <a:rPr lang="pt-BR" dirty="0" err="1"/>
              <a:t>ContaTest</a:t>
            </a:r>
            <a:r>
              <a:rPr lang="pt-BR" dirty="0"/>
              <a:t> com o método </a:t>
            </a:r>
            <a:r>
              <a:rPr lang="pt-BR" dirty="0" err="1"/>
              <a:t>main</a:t>
            </a:r>
            <a:r>
              <a:rPr lang="pt-BR" dirty="0"/>
              <a:t> que vamos utilizar para testar a classe Conta que vamos criar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F2EC26DC-AC12-9012-1441-702DB3AD0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5394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3190511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F57EE-C50C-0132-81ED-7425A6E6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8BB7F-2D4C-B9EF-FA52-09FE150D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5274DC-559D-F525-55FF-5A5FFB446EC0}"/>
              </a:ext>
            </a:extLst>
          </p:cNvPr>
          <p:cNvSpPr txBox="1"/>
          <p:nvPr/>
        </p:nvSpPr>
        <p:spPr>
          <a:xfrm>
            <a:off x="8849532" y="2551837"/>
            <a:ext cx="2504268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então criar a classe conta clicando com o botão direito no pacote principal do projeto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8A38F313-57F3-9000-3F82-93E2CD232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74644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211C-06F1-5033-8B9D-5228547A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2ABAF3-D03F-D2F7-DDB3-AFE210A9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08832B2-6878-2A27-3967-7D8EAF38B867}"/>
              </a:ext>
            </a:extLst>
          </p:cNvPr>
          <p:cNvSpPr txBox="1"/>
          <p:nvPr/>
        </p:nvSpPr>
        <p:spPr>
          <a:xfrm>
            <a:off x="8849532" y="2551837"/>
            <a:ext cx="2504268" cy="92333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coloco o nome Conta e vamos clicar em </a:t>
            </a:r>
            <a:r>
              <a:rPr lang="pt-BR" dirty="0" err="1"/>
              <a:t>finish</a:t>
            </a:r>
            <a:endParaRPr lang="pt-BR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56AD21B1-B539-1585-980F-5F213C705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176435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0BA01-0337-AD9E-A947-93FC4B3C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14E63-B691-850C-49B9-9293226D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0F9D247-7703-58A7-9196-BFF134BA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C9FCDF9-F11B-1498-0785-9005A778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53331"/>
            <a:ext cx="7202214" cy="4351338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5E43A9D-79DE-0E81-A85B-68ADC53C45E3}"/>
              </a:ext>
            </a:extLst>
          </p:cNvPr>
          <p:cNvSpPr txBox="1"/>
          <p:nvPr/>
        </p:nvSpPr>
        <p:spPr>
          <a:xfrm>
            <a:off x="8325507" y="1582340"/>
            <a:ext cx="302829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 importância de criar um diagrama de classe:</a:t>
            </a:r>
          </a:p>
          <a:p>
            <a:r>
              <a:rPr lang="pt-BR" dirty="0"/>
              <a:t>Aqui eu vou colocar os atributos e métodos da classe, especificando se são públicos ou privados, e o que os métodos precisam para funcionar. </a:t>
            </a:r>
          </a:p>
          <a:p>
            <a:r>
              <a:rPr lang="pt-BR" dirty="0"/>
              <a:t>Por exemplo, para exibir o saldo o método não precisa de nada. Mas para sacar ou depositar, precisamos passar o parâmetro do valor.</a:t>
            </a:r>
          </a:p>
        </p:txBody>
      </p:sp>
    </p:spTree>
    <p:extLst>
      <p:ext uri="{BB962C8B-B14F-4D97-AF65-F5344CB8AC3E}">
        <p14:creationId xmlns:p14="http://schemas.microsoft.com/office/powerpoint/2010/main" val="1531363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44D1EF-A719-638B-B1BA-A0AC8692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421" y="1878340"/>
            <a:ext cx="5167185" cy="3420218"/>
          </a:xfrm>
          <a:solidFill>
            <a:srgbClr val="FFC000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2200" dirty="0" err="1"/>
              <a:t>Dica</a:t>
            </a:r>
            <a:r>
              <a:rPr lang="en-US" sz="2200" dirty="0"/>
              <a:t>:</a:t>
            </a:r>
            <a:br>
              <a:rPr lang="en-US" sz="2200" dirty="0"/>
            </a:br>
            <a:r>
              <a:rPr lang="en-US" sz="2200" dirty="0"/>
              <a:t>Para </a:t>
            </a:r>
            <a:r>
              <a:rPr lang="en-US" sz="2200" dirty="0" err="1"/>
              <a:t>criar</a:t>
            </a:r>
            <a:r>
              <a:rPr lang="en-US" sz="2200" dirty="0"/>
              <a:t> as classes, Podemos usar java, Kotlin, </a:t>
            </a:r>
            <a:r>
              <a:rPr lang="en-US" sz="2200" dirty="0" err="1"/>
              <a:t>c#</a:t>
            </a:r>
            <a:r>
              <a:rPr lang="en-US" sz="2200" dirty="0"/>
              <a:t> </a:t>
            </a:r>
            <a:r>
              <a:rPr lang="en-US" sz="2200" dirty="0" err="1"/>
              <a:t>ou</a:t>
            </a:r>
            <a:r>
              <a:rPr lang="en-US" sz="2200" dirty="0"/>
              <a:t> </a:t>
            </a:r>
            <a:r>
              <a:rPr lang="en-US" sz="2200" dirty="0" err="1"/>
              <a:t>qualquer</a:t>
            </a:r>
            <a:r>
              <a:rPr lang="en-US" sz="2200" dirty="0"/>
              <a:t> </a:t>
            </a:r>
            <a:r>
              <a:rPr lang="en-US" sz="2200" dirty="0" err="1"/>
              <a:t>outra</a:t>
            </a:r>
            <a:r>
              <a:rPr lang="en-US" sz="2200" dirty="0"/>
              <a:t> </a:t>
            </a:r>
            <a:r>
              <a:rPr lang="en-US" sz="2200" dirty="0" err="1"/>
              <a:t>linguagem</a:t>
            </a:r>
            <a:r>
              <a:rPr lang="en-US" sz="2200" dirty="0"/>
              <a:t> </a:t>
            </a:r>
            <a:r>
              <a:rPr lang="en-US" sz="2200" dirty="0" err="1"/>
              <a:t>orientada</a:t>
            </a:r>
            <a:r>
              <a:rPr lang="en-US" sz="2200" dirty="0"/>
              <a:t> a </a:t>
            </a:r>
            <a:r>
              <a:rPr lang="en-US" sz="2200" dirty="0" err="1"/>
              <a:t>objetos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200" dirty="0"/>
              <a:t>E </a:t>
            </a:r>
            <a:r>
              <a:rPr lang="en-US" sz="2200" dirty="0" err="1"/>
              <a:t>tambem</a:t>
            </a:r>
            <a:r>
              <a:rPr lang="en-US" sz="2200" dirty="0"/>
              <a:t> </a:t>
            </a:r>
            <a:r>
              <a:rPr lang="en-US" sz="2200" dirty="0" err="1"/>
              <a:t>qualquer</a:t>
            </a:r>
            <a:r>
              <a:rPr lang="en-US" sz="2200" dirty="0"/>
              <a:t> IDE, </a:t>
            </a:r>
            <a:r>
              <a:rPr lang="en-US" sz="2200" dirty="0" err="1"/>
              <a:t>como</a:t>
            </a:r>
            <a:r>
              <a:rPr lang="en-US" sz="2200" dirty="0"/>
              <a:t> </a:t>
            </a:r>
            <a:r>
              <a:rPr lang="en-US" sz="2200" dirty="0" err="1"/>
              <a:t>Netbeans</a:t>
            </a:r>
            <a:r>
              <a:rPr lang="en-US" sz="2200" dirty="0"/>
              <a:t>, </a:t>
            </a:r>
            <a:r>
              <a:rPr lang="en-US" sz="2200" dirty="0" err="1"/>
              <a:t>AndroidStudio</a:t>
            </a:r>
            <a:r>
              <a:rPr lang="en-US" sz="2200" dirty="0"/>
              <a:t>, </a:t>
            </a:r>
            <a:r>
              <a:rPr lang="en-US" sz="2200" dirty="0" err="1"/>
              <a:t>VisualStudio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200" dirty="0"/>
              <a:t>Vamos </a:t>
            </a:r>
            <a:r>
              <a:rPr lang="en-US" sz="2200" dirty="0" err="1"/>
              <a:t>fazer</a:t>
            </a:r>
            <a:r>
              <a:rPr lang="en-US" sz="2200" dirty="0"/>
              <a:t> a </a:t>
            </a:r>
            <a:r>
              <a:rPr lang="en-US" sz="2200" dirty="0" err="1"/>
              <a:t>classe</a:t>
            </a:r>
            <a:r>
              <a:rPr lang="en-US" sz="2200" dirty="0"/>
              <a:t> no </a:t>
            </a:r>
            <a:r>
              <a:rPr lang="en-US" sz="2200" dirty="0" err="1"/>
              <a:t>Netbeans</a:t>
            </a:r>
            <a:r>
              <a:rPr lang="en-US" sz="2200" dirty="0"/>
              <a:t> e no Android.</a:t>
            </a:r>
            <a:br>
              <a:rPr lang="en-US" sz="2200" dirty="0"/>
            </a:br>
            <a:r>
              <a:rPr lang="en-US" sz="2200" dirty="0"/>
              <a:t>Para </a:t>
            </a:r>
            <a:r>
              <a:rPr lang="en-US" sz="2200" dirty="0" err="1"/>
              <a:t>isso</a:t>
            </a:r>
            <a:r>
              <a:rPr lang="en-US" sz="2200" dirty="0"/>
              <a:t> é so </a:t>
            </a:r>
            <a:r>
              <a:rPr lang="en-US" sz="2200" dirty="0" err="1"/>
              <a:t>seguir</a:t>
            </a:r>
            <a:r>
              <a:rPr lang="en-US" sz="2200" dirty="0"/>
              <a:t> o que </a:t>
            </a:r>
            <a:r>
              <a:rPr lang="en-US" sz="2200" dirty="0" err="1"/>
              <a:t>tem</a:t>
            </a:r>
            <a:r>
              <a:rPr lang="en-US" sz="2200" dirty="0"/>
              <a:t> no </a:t>
            </a:r>
            <a:r>
              <a:rPr lang="en-US" sz="2200" dirty="0" err="1"/>
              <a:t>diagrama</a:t>
            </a:r>
            <a:r>
              <a:rPr lang="en-US" sz="2200" dirty="0"/>
              <a:t> de </a:t>
            </a:r>
            <a:r>
              <a:rPr lang="en-US" sz="2200" dirty="0" err="1"/>
              <a:t>classe</a:t>
            </a:r>
            <a:r>
              <a:rPr lang="en-US" sz="2200" dirty="0"/>
              <a:t>:</a:t>
            </a:r>
            <a:br>
              <a:rPr lang="en-US" sz="2200" dirty="0"/>
            </a:br>
            <a:r>
              <a:rPr lang="en-US" sz="2200" dirty="0" err="1"/>
              <a:t>Comeca</a:t>
            </a:r>
            <a:r>
              <a:rPr lang="en-US" sz="2200" dirty="0"/>
              <a:t> </a:t>
            </a:r>
            <a:r>
              <a:rPr lang="en-US" sz="2200" dirty="0" err="1"/>
              <a:t>pelo</a:t>
            </a:r>
            <a:r>
              <a:rPr lang="en-US" sz="2200" dirty="0"/>
              <a:t> </a:t>
            </a:r>
            <a:r>
              <a:rPr lang="en-US" sz="2200" dirty="0" err="1"/>
              <a:t>nome</a:t>
            </a:r>
            <a:r>
              <a:rPr lang="en-US" sz="2200" dirty="0"/>
              <a:t>, </a:t>
            </a:r>
            <a:r>
              <a:rPr lang="en-US" sz="2200" dirty="0" err="1"/>
              <a:t>depois</a:t>
            </a:r>
            <a:r>
              <a:rPr lang="en-US" sz="2200" dirty="0"/>
              <a:t> </a:t>
            </a:r>
            <a:r>
              <a:rPr lang="en-US" sz="2200" dirty="0" err="1"/>
              <a:t>os</a:t>
            </a:r>
            <a:r>
              <a:rPr lang="en-US" sz="2200" dirty="0"/>
              <a:t> </a:t>
            </a:r>
            <a:r>
              <a:rPr lang="en-US" sz="2200" dirty="0" err="1"/>
              <a:t>atributos</a:t>
            </a:r>
            <a:r>
              <a:rPr lang="en-US" sz="2200" dirty="0"/>
              <a:t> e </a:t>
            </a:r>
            <a:r>
              <a:rPr lang="en-US" sz="2200" dirty="0" err="1"/>
              <a:t>finalmente</a:t>
            </a:r>
            <a:r>
              <a:rPr lang="en-US" sz="2200" dirty="0"/>
              <a:t> </a:t>
            </a:r>
            <a:r>
              <a:rPr lang="en-US" sz="2200" dirty="0" err="1"/>
              <a:t>os</a:t>
            </a:r>
            <a:r>
              <a:rPr lang="en-US" sz="2200" dirty="0"/>
              <a:t> </a:t>
            </a:r>
            <a:r>
              <a:rPr lang="en-US" sz="2200" dirty="0" err="1"/>
              <a:t>metodos</a:t>
            </a:r>
            <a:endParaRPr lang="en-US"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068911C-1FD3-F6B3-0D5B-13BC9377910B}"/>
              </a:ext>
            </a:extLst>
          </p:cNvPr>
          <p:cNvSpPr txBox="1"/>
          <p:nvPr/>
        </p:nvSpPr>
        <p:spPr>
          <a:xfrm>
            <a:off x="6198393" y="487680"/>
            <a:ext cx="5167185" cy="239211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Criando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Conta com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atributos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saldo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Essa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não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vamos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outra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ContaTeste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vai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método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 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dentro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dele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instancia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Conta.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Instanciar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significa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uma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variável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do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colocar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dentro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dessa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variável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pic>
        <p:nvPicPr>
          <p:cNvPr id="8" name="Gráfico 7" descr="Uma lâmpada">
            <a:extLst>
              <a:ext uri="{FF2B5EF4-FFF2-40B4-BE49-F238E27FC236}">
                <a16:creationId xmlns:a16="http://schemas.microsoft.com/office/drawing/2014/main" id="{30DAD6FB-E594-9735-4AEF-5A5707585F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421" y="487680"/>
            <a:ext cx="1390659" cy="1390659"/>
          </a:xfrm>
          <a:prstGeom prst="rect">
            <a:avLst/>
          </a:prstGeom>
        </p:spPr>
      </p:pic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F01A43A-3A65-B463-250F-6DE1E8572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198394" y="3256437"/>
            <a:ext cx="5167185" cy="204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6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AD491-A761-F548-4737-31A2C4E2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64EA40E-6084-B317-6A47-A225AD62C1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35944"/>
            <a:ext cx="7162939" cy="3186112"/>
          </a:xfr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A0D33540-B8BE-C3E1-4A70-0E93C16EB074}"/>
              </a:ext>
            </a:extLst>
          </p:cNvPr>
          <p:cNvSpPr txBox="1"/>
          <p:nvPr/>
        </p:nvSpPr>
        <p:spPr>
          <a:xfrm>
            <a:off x="8325507" y="2828835"/>
            <a:ext cx="302829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Criando a classe </a:t>
            </a:r>
            <a:r>
              <a:rPr lang="pt-BR" dirty="0" err="1"/>
              <a:t>ContaTeste</a:t>
            </a:r>
            <a:r>
              <a:rPr lang="pt-BR" dirty="0"/>
              <a:t> com o </a:t>
            </a:r>
            <a:r>
              <a:rPr lang="pt-BR" dirty="0" err="1"/>
              <a:t>metodo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().</a:t>
            </a:r>
          </a:p>
          <a:p>
            <a:r>
              <a:rPr lang="pt-BR" dirty="0"/>
              <a:t>O </a:t>
            </a:r>
            <a:r>
              <a:rPr lang="pt-BR" dirty="0" err="1"/>
              <a:t>java</a:t>
            </a:r>
            <a:r>
              <a:rPr lang="pt-BR" dirty="0"/>
              <a:t> sempre procura um método </a:t>
            </a:r>
            <a:r>
              <a:rPr lang="pt-BR" dirty="0" err="1"/>
              <a:t>main</a:t>
            </a:r>
            <a:r>
              <a:rPr lang="pt-BR" dirty="0"/>
              <a:t>() para iniciar.</a:t>
            </a:r>
          </a:p>
        </p:txBody>
      </p:sp>
    </p:spTree>
    <p:extLst>
      <p:ext uri="{BB962C8B-B14F-4D97-AF65-F5344CB8AC3E}">
        <p14:creationId xmlns:p14="http://schemas.microsoft.com/office/powerpoint/2010/main" val="195088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F2E6-BB13-C8C5-CDE9-2238D414D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5DDA1-436A-6F60-5125-9A04680F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7308DBD-8861-A017-FBBE-C1C513836E16}"/>
              </a:ext>
            </a:extLst>
          </p:cNvPr>
          <p:cNvSpPr txBox="1"/>
          <p:nvPr/>
        </p:nvSpPr>
        <p:spPr>
          <a:xfrm>
            <a:off x="8325507" y="2828835"/>
            <a:ext cx="3028293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Como o objetivo da classe </a:t>
            </a:r>
            <a:r>
              <a:rPr lang="pt-BR" dirty="0" err="1"/>
              <a:t>ContaTeste</a:t>
            </a:r>
            <a:r>
              <a:rPr lang="pt-BR" dirty="0"/>
              <a:t> é testar a classe Conta, vamos instanciar a classe Conta, usando o método construtor new. (La na classe </a:t>
            </a:r>
            <a:r>
              <a:rPr lang="pt-BR" dirty="0" err="1"/>
              <a:t>ContaTest</a:t>
            </a:r>
            <a:r>
              <a:rPr lang="pt-BR" dirty="0"/>
              <a:t>)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93B796F7-E8B2-23ED-9210-906B9B5481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83543"/>
            <a:ext cx="7126274" cy="3490912"/>
          </a:xfrm>
        </p:spPr>
      </p:pic>
    </p:spTree>
    <p:extLst>
      <p:ext uri="{BB962C8B-B14F-4D97-AF65-F5344CB8AC3E}">
        <p14:creationId xmlns:p14="http://schemas.microsoft.com/office/powerpoint/2010/main" val="11576313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F81BB7-48FB-9790-2FA9-9F64D168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782AE5-0F34-DA3D-C144-51988624569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0" y="0"/>
            <a:ext cx="12192000" cy="706597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Para criar um método, temos que seguir os passos:</a:t>
            </a:r>
          </a:p>
          <a:p>
            <a:pPr marL="514350" indent="-514350">
              <a:buAutoNum type="alphaLcParenR"/>
            </a:pPr>
            <a:r>
              <a:rPr lang="pt-BR" dirty="0"/>
              <a:t>Colocar </a:t>
            </a:r>
            <a:r>
              <a:rPr lang="pt-BR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um modificador de acesso</a:t>
            </a:r>
            <a:r>
              <a:rPr lang="pt-BR" dirty="0"/>
              <a:t>. Modificador de acesso vai definir quem pode acessar esse método. Basicamente se for público todos tem acesso ao método, e se for privado, o acesso será </a:t>
            </a:r>
            <a:r>
              <a:rPr lang="pt-BR" dirty="0" err="1"/>
              <a:t>so</a:t>
            </a:r>
            <a:r>
              <a:rPr lang="pt-BR" dirty="0"/>
              <a:t> de dentro da classe.</a:t>
            </a:r>
          </a:p>
          <a:p>
            <a:pPr marL="514350" indent="-514350">
              <a:buAutoNum type="alphaLcParenR"/>
            </a:pPr>
            <a:r>
              <a:rPr lang="pt-BR" dirty="0"/>
              <a:t>Colocar o </a:t>
            </a:r>
            <a:r>
              <a:rPr lang="pt-BR" dirty="0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tipo de retorno</a:t>
            </a:r>
            <a:r>
              <a:rPr lang="pt-BR" dirty="0"/>
              <a:t>. Se o método não retorna nada, usamos </a:t>
            </a:r>
            <a:r>
              <a:rPr lang="pt-BR" dirty="0" err="1"/>
              <a:t>void</a:t>
            </a:r>
            <a:r>
              <a:rPr lang="pt-BR" dirty="0"/>
              <a:t>. Mas o método pode retornar </a:t>
            </a:r>
            <a:r>
              <a:rPr lang="pt-BR" dirty="0" err="1"/>
              <a:t>String</a:t>
            </a:r>
            <a:r>
              <a:rPr lang="pt-BR" dirty="0"/>
              <a:t>, </a:t>
            </a:r>
            <a:r>
              <a:rPr lang="pt-BR" dirty="0" err="1"/>
              <a:t>Boolean</a:t>
            </a:r>
            <a:r>
              <a:rPr lang="pt-BR" dirty="0"/>
              <a:t>, Double etc. </a:t>
            </a:r>
          </a:p>
          <a:p>
            <a:pPr marL="514350" indent="-514350">
              <a:buAutoNum type="alphaLcParenR"/>
            </a:pPr>
            <a:r>
              <a:rPr lang="pt-BR" dirty="0"/>
              <a:t>Colocar o </a:t>
            </a:r>
            <a:r>
              <a:rPr lang="pt-BR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nome do método</a:t>
            </a:r>
            <a:r>
              <a:rPr lang="pt-BR" dirty="0"/>
              <a:t>: sempre começa com letra minúscula e a primeira letra das palavras seguintes será em maiúscula.</a:t>
            </a:r>
          </a:p>
          <a:p>
            <a:pPr marL="514350" indent="-514350">
              <a:buAutoNum type="alphaLcParenR"/>
            </a:pPr>
            <a:r>
              <a:rPr lang="pt-BR" dirty="0" err="1"/>
              <a:t>Parenteses</a:t>
            </a:r>
            <a:r>
              <a:rPr lang="pt-BR" dirty="0"/>
              <a:t>: dentro dos parênteses podemos passar </a:t>
            </a: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parâmetros</a:t>
            </a:r>
            <a:r>
              <a:rPr lang="pt-BR" dirty="0"/>
              <a:t>. Se não tem parâmetro, abrimos e fechamos os parentes apenas.</a:t>
            </a:r>
          </a:p>
          <a:p>
            <a:pPr marL="514350" indent="-514350">
              <a:buAutoNum type="alphaLcParenR"/>
            </a:pPr>
            <a:r>
              <a:rPr lang="pt-BR" dirty="0"/>
              <a:t>Colocar as chaves: Dentro delas ficará o </a:t>
            </a:r>
            <a:r>
              <a:rPr lang="pt-BR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corpo do método</a:t>
            </a:r>
            <a:r>
              <a:rPr lang="pt-BR" dirty="0"/>
              <a:t>:</a:t>
            </a:r>
          </a:p>
          <a:p>
            <a:pPr marL="0" indent="0">
              <a:buNone/>
            </a:pPr>
            <a:r>
              <a:rPr lang="pt-BR" dirty="0"/>
              <a:t>		</a:t>
            </a:r>
            <a:r>
              <a:rPr lang="pt-BR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pt-BR" dirty="0"/>
              <a:t> </a:t>
            </a:r>
            <a:r>
              <a:rPr lang="pt-BR" dirty="0" err="1">
                <a:solidFill>
                  <a:schemeClr val="tx2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</a:t>
            </a:r>
            <a:r>
              <a:rPr lang="pt-BR" dirty="0"/>
              <a:t> </a:t>
            </a:r>
            <a:r>
              <a:rPr lang="pt-BR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sacar</a:t>
            </a:r>
            <a:r>
              <a:rPr lang="pt-BR" dirty="0"/>
              <a:t>(</a:t>
            </a:r>
            <a:r>
              <a:rPr lang="pt-BR" dirty="0" err="1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</a:t>
            </a:r>
            <a:r>
              <a:rPr lang="pt-BR" dirty="0"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valor</a:t>
            </a:r>
            <a:r>
              <a:rPr lang="pt-BR" dirty="0"/>
              <a:t>){</a:t>
            </a:r>
          </a:p>
          <a:p>
            <a:pPr marL="0" indent="0">
              <a:buNone/>
            </a:pPr>
            <a:r>
              <a:rPr lang="pt-BR" dirty="0"/>
              <a:t>   	 		</a:t>
            </a:r>
            <a:r>
              <a:rPr lang="pt-BR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saldo -= valor;</a:t>
            </a:r>
          </a:p>
          <a:p>
            <a:pPr marL="0" indent="0">
              <a:buNone/>
            </a:pPr>
            <a:r>
              <a:rPr lang="pt-BR" dirty="0"/>
              <a:t>		} </a:t>
            </a:r>
          </a:p>
        </p:txBody>
      </p:sp>
    </p:spTree>
    <p:extLst>
      <p:ext uri="{BB962C8B-B14F-4D97-AF65-F5344CB8AC3E}">
        <p14:creationId xmlns:p14="http://schemas.microsoft.com/office/powerpoint/2010/main" val="1522449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1E558-D415-F39D-8111-687F582AF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9B6CF-A2F7-A03E-1885-95D0EBBA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3F8A13B0-8DFE-3513-DCE1-72D3995A5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914779" cy="4351338"/>
          </a:xfr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6C7ADBDD-FF53-7D0A-BD7B-5D3F3B43CFE7}"/>
              </a:ext>
            </a:extLst>
          </p:cNvPr>
          <p:cNvSpPr txBox="1"/>
          <p:nvPr/>
        </p:nvSpPr>
        <p:spPr>
          <a:xfrm>
            <a:off x="8935107" y="2828835"/>
            <a:ext cx="241869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comando cria uma instancia da classe Conta na memória</a:t>
            </a:r>
          </a:p>
        </p:txBody>
      </p:sp>
    </p:spTree>
    <p:extLst>
      <p:ext uri="{BB962C8B-B14F-4D97-AF65-F5344CB8AC3E}">
        <p14:creationId xmlns:p14="http://schemas.microsoft.com/office/powerpoint/2010/main" val="207181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AC0BC-EE9A-046F-B030-821E3007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5E738-6A9E-7A0E-B68F-F9E421E81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BE327C-0987-C6C8-9805-74F7B41D1F43}"/>
              </a:ext>
            </a:extLst>
          </p:cNvPr>
          <p:cNvSpPr txBox="1"/>
          <p:nvPr/>
        </p:nvSpPr>
        <p:spPr>
          <a:xfrm>
            <a:off x="8325507" y="2164424"/>
            <a:ext cx="3028293" cy="31393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criei uma instancia da classe Conta, em uma variável conta.</a:t>
            </a:r>
          </a:p>
          <a:p>
            <a:r>
              <a:rPr lang="pt-BR" dirty="0"/>
              <a:t>Agora podemos acessar os atributos e métodos da classe, colocando o nome da variável e um ponto na frente.</a:t>
            </a:r>
          </a:p>
          <a:p>
            <a:r>
              <a:rPr lang="pt-BR" dirty="0"/>
              <a:t>O ponto é como a gente acessa os métodos e atributos das classes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4A580863-F68C-9558-B4F7-02AF44EF8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7154273" cy="4086795"/>
          </a:xfrm>
        </p:spPr>
      </p:pic>
    </p:spTree>
    <p:extLst>
      <p:ext uri="{BB962C8B-B14F-4D97-AF65-F5344CB8AC3E}">
        <p14:creationId xmlns:p14="http://schemas.microsoft.com/office/powerpoint/2010/main" val="4116887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2F87-3092-17B0-8F59-15460F9DF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CC6576-1DCD-BF79-CD43-C09B3275C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0CEF95-CF1E-DF73-8ABC-43D261ED0B16}"/>
              </a:ext>
            </a:extLst>
          </p:cNvPr>
          <p:cNvSpPr txBox="1"/>
          <p:nvPr/>
        </p:nvSpPr>
        <p:spPr>
          <a:xfrm>
            <a:off x="8325507" y="612844"/>
            <a:ext cx="3028293" cy="563231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Aqui criamos dois objetos do tipo Conta, um chamado de conta e outro chamado de destino. Uma classe é um projeto e com esse projeto, podemos criar vários objetos. Uma classe passa a ser um objeto quando instanciamos, pois a partir da instancia, ele estará na memória da máquina. Instanciar nada mais é do que criar uma variável do tipo da classe, e quando criamos ela fica armazenada na memória, ou seja é criada uma instancia da variável, um espaço para ela, então ela passa a “existir” na memoria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C3CC948E-E0A3-80E9-5D59-D613493A05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11732"/>
            <a:ext cx="6824807" cy="2738348"/>
          </a:xfrm>
        </p:spPr>
      </p:pic>
    </p:spTree>
    <p:extLst>
      <p:ext uri="{BB962C8B-B14F-4D97-AF65-F5344CB8AC3E}">
        <p14:creationId xmlns:p14="http://schemas.microsoft.com/office/powerpoint/2010/main" val="3521037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DB3B-52FB-92A4-523B-B3B9A132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D1BAFC-DD4A-F0D4-37E8-9336900D3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406D94-05A3-C673-1078-AA0719145D3B}"/>
              </a:ext>
            </a:extLst>
          </p:cNvPr>
          <p:cNvSpPr txBox="1"/>
          <p:nvPr/>
        </p:nvSpPr>
        <p:spPr>
          <a:xfrm>
            <a:off x="8325507" y="2413337"/>
            <a:ext cx="3028293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Agora dentro da classe Conta, vamos criar o método </a:t>
            </a:r>
            <a:r>
              <a:rPr lang="pt-BR" dirty="0" err="1"/>
              <a:t>exibirSaldo</a:t>
            </a:r>
            <a:r>
              <a:rPr lang="pt-BR" dirty="0"/>
              <a:t>. Esse método vai pegar o nome do cliente, exibir uma mensagem e mostrar o saldo. 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891E396-73B9-029D-CE9D-25D98A846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8209"/>
            <a:ext cx="6944694" cy="2381582"/>
          </a:xfrm>
        </p:spPr>
      </p:pic>
    </p:spTree>
    <p:extLst>
      <p:ext uri="{BB962C8B-B14F-4D97-AF65-F5344CB8AC3E}">
        <p14:creationId xmlns:p14="http://schemas.microsoft.com/office/powerpoint/2010/main" val="2390275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C0538-D33F-17E9-23FA-0B2DDD61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8D94E-3628-923A-3639-5A36151E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D33A6AC-65F5-E691-E653-A78308E75F4D}"/>
              </a:ext>
            </a:extLst>
          </p:cNvPr>
          <p:cNvSpPr txBox="1"/>
          <p:nvPr/>
        </p:nvSpPr>
        <p:spPr>
          <a:xfrm>
            <a:off x="8325507" y="2828834"/>
            <a:ext cx="3028293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testar o método, vamos na classe </a:t>
            </a:r>
            <a:r>
              <a:rPr lang="pt-BR" dirty="0" err="1"/>
              <a:t>ContaTeste</a:t>
            </a:r>
            <a:r>
              <a:rPr lang="pt-BR" dirty="0"/>
              <a:t> e chamamos o método </a:t>
            </a:r>
            <a:r>
              <a:rPr lang="pt-BR" dirty="0" err="1"/>
              <a:t>exibeSaldo</a:t>
            </a:r>
            <a:r>
              <a:rPr lang="pt-BR" dirty="0"/>
              <a:t>()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4867AF4-24FD-8A5E-2E11-F7EF95506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19076"/>
            <a:ext cx="6973273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551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BFEE-5B89-3811-C899-080BB340D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14AE7-7BBD-BF68-9651-636DA610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5B9C41-BCC0-3D36-9935-80DDF3A96D7E}"/>
              </a:ext>
            </a:extLst>
          </p:cNvPr>
          <p:cNvSpPr txBox="1"/>
          <p:nvPr/>
        </p:nvSpPr>
        <p:spPr>
          <a:xfrm>
            <a:off x="8325507" y="2828834"/>
            <a:ext cx="3028293" cy="64633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Rodando a gente </a:t>
            </a:r>
            <a:r>
              <a:rPr lang="pt-BR" dirty="0" err="1"/>
              <a:t>ve</a:t>
            </a:r>
            <a:r>
              <a:rPr lang="pt-BR" dirty="0"/>
              <a:t> aqui o resultado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62BEE73-61AE-B3B6-1723-82190CBB12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56" y="728283"/>
            <a:ext cx="7535327" cy="540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3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35E91-BCDF-D424-4775-4F63ADDE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55586-F7A3-CA76-E20E-98EFAC4A8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665F4C3-E295-38A4-81E4-A42550C6040C}"/>
              </a:ext>
            </a:extLst>
          </p:cNvPr>
          <p:cNvSpPr txBox="1"/>
          <p:nvPr/>
        </p:nvSpPr>
        <p:spPr>
          <a:xfrm>
            <a:off x="8325507" y="1582338"/>
            <a:ext cx="3028293" cy="369331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Bem... Esse método </a:t>
            </a:r>
            <a:r>
              <a:rPr lang="pt-BR" dirty="0" err="1"/>
              <a:t>exibirSaldo</a:t>
            </a:r>
            <a:r>
              <a:rPr lang="pt-BR" dirty="0"/>
              <a:t> não tem nenhum parâmetro, porque dentro dos parênteses não tem nada, </a:t>
            </a:r>
            <a:r>
              <a:rPr lang="pt-BR" dirty="0" err="1"/>
              <a:t>so</a:t>
            </a:r>
            <a:r>
              <a:rPr lang="pt-BR" dirty="0"/>
              <a:t> o abre e fecha parênteses. Isso significa que ele não precisa de nada de fora para funcionar.</a:t>
            </a:r>
          </a:p>
          <a:p>
            <a:r>
              <a:rPr lang="pt-BR" dirty="0"/>
              <a:t>Não precisa de nenhum parâmetro para rodar pois ele simplesmente exibe o que tem dentro do atributo saldo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22570F0-F2C4-BB73-9CEE-2264CDF8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38123"/>
            <a:ext cx="6949440" cy="418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82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7D31-BF5B-0C8F-25FF-D8A3ED8AB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506F5-6399-6DB1-5C8A-56883472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6FD8C4E-FBF8-BF82-4218-4025E29F0B84}"/>
              </a:ext>
            </a:extLst>
          </p:cNvPr>
          <p:cNvSpPr txBox="1"/>
          <p:nvPr/>
        </p:nvSpPr>
        <p:spPr>
          <a:xfrm>
            <a:off x="8325507" y="2828834"/>
            <a:ext cx="3028293" cy="273921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sacar precisa de um valor, pois quem saca </a:t>
            </a:r>
            <a:r>
              <a:rPr lang="pt-BR" dirty="0" err="1"/>
              <a:t>saca</a:t>
            </a:r>
            <a:r>
              <a:rPr lang="pt-BR" dirty="0"/>
              <a:t> um valor, e temos que informar isso para o método. </a:t>
            </a:r>
          </a:p>
          <a:p>
            <a:r>
              <a:rPr lang="pt-BR" dirty="0" err="1"/>
              <a:t>Entao</a:t>
            </a:r>
            <a:r>
              <a:rPr lang="pt-BR" dirty="0"/>
              <a:t> </a:t>
            </a:r>
            <a:r>
              <a:rPr lang="pt-BR" dirty="0" err="1"/>
              <a:t>la</a:t>
            </a:r>
            <a:r>
              <a:rPr lang="pt-BR" dirty="0"/>
              <a:t> na classe </a:t>
            </a:r>
            <a:r>
              <a:rPr lang="pt-BR" dirty="0" err="1"/>
              <a:t>ContaTeste</a:t>
            </a:r>
            <a:r>
              <a:rPr lang="pt-BR" dirty="0"/>
              <a:t>, eu chamo o método sacar passando um valor:</a:t>
            </a:r>
          </a:p>
          <a:p>
            <a:r>
              <a:rPr lang="pt-BR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conta.sacar</a:t>
            </a:r>
            <a:r>
              <a:rPr lang="pt-BR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(50)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E33B88-D0E1-8858-766A-3562C452D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4484"/>
            <a:ext cx="6937584" cy="368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118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A2D19-922F-EAC6-23F7-7D05A8E14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B438DB-0941-FEF2-76B8-72534F235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F32E17A-0E4A-908D-6970-097C9499398B}"/>
              </a:ext>
            </a:extLst>
          </p:cNvPr>
          <p:cNvSpPr txBox="1"/>
          <p:nvPr/>
        </p:nvSpPr>
        <p:spPr>
          <a:xfrm>
            <a:off x="8854440" y="2828834"/>
            <a:ext cx="249936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O método depositar também precisa de um valor, e ele não retorna nada, então o retorno é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void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3022815-DECC-48A5-6475-684D0688C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99916"/>
            <a:ext cx="7859222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06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579C-5978-AA34-2C2D-68495C094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912F3F-35DE-F0BA-A156-2C4B1D288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76EFD6B-0BC5-09BA-A858-DCD2DD766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593" y="0"/>
            <a:ext cx="101608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56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BB16-3C27-C262-91C0-C82A9EED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8B883C-09A4-CF24-C326-8D14AA917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704946-6698-440E-6722-52A48ECA3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5" y="491070"/>
            <a:ext cx="12178085" cy="5875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63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A7E16-F0ED-F621-B38D-FC30F69C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40925-1EA7-0616-11B7-300DC8590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9AB10F-C909-9289-822C-AAC5BA5ED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37967"/>
            <a:ext cx="10590925" cy="278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88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9FB6-26BD-0031-F726-EE19341A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B5FF4-9B33-CA4F-9D07-7E2AD492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6819256-A933-43FD-586F-66E7E8136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82498"/>
            <a:ext cx="7721716" cy="4693004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B640073-6CE0-1201-324A-B18AAEBEE547}"/>
              </a:ext>
            </a:extLst>
          </p:cNvPr>
          <p:cNvSpPr txBox="1"/>
          <p:nvPr/>
        </p:nvSpPr>
        <p:spPr>
          <a:xfrm>
            <a:off x="8854440" y="2551837"/>
            <a:ext cx="2499360" cy="175432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Temos que criar duas contas para testar esse método, uma que eh a conta que eu chamo aqui com </a:t>
            </a:r>
            <a:r>
              <a:rPr lang="pt-BR" dirty="0" err="1"/>
              <a:t>this</a:t>
            </a:r>
            <a:r>
              <a:rPr lang="pt-BR" dirty="0"/>
              <a:t>, e outra chamada destino 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071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0F97DF-931A-D788-1B47-040758FF8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98E902-5D24-E36B-B63C-761586FC4AAC}"/>
              </a:ext>
            </a:extLst>
          </p:cNvPr>
          <p:cNvSpPr txBox="1"/>
          <p:nvPr/>
        </p:nvSpPr>
        <p:spPr>
          <a:xfrm>
            <a:off x="8854440" y="2413337"/>
            <a:ext cx="2499360" cy="203132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Esse método pega dois parâmetros, um objeto Conta e um </a:t>
            </a:r>
            <a:r>
              <a:rPr lang="pt-BR" dirty="0" err="1"/>
              <a:t>double</a:t>
            </a:r>
            <a:r>
              <a:rPr lang="pt-BR" dirty="0"/>
              <a:t> valor. O objeto tem o método sacar e o depositar que estamos usando aqui 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id="{073F9C5E-D475-C0BA-40C9-CDA5205B0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34763"/>
            <a:ext cx="7556699" cy="1788473"/>
          </a:xfrm>
        </p:spPr>
      </p:pic>
    </p:spTree>
    <p:extLst>
      <p:ext uri="{BB962C8B-B14F-4D97-AF65-F5344CB8AC3E}">
        <p14:creationId xmlns:p14="http://schemas.microsoft.com/office/powerpoint/2010/main" val="3681824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F0D3E-3FBA-D866-F3C9-F0BEAEA2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F1B3D01-E4A9-6D3C-0B65-758A0F6EB4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86" r="12620" b="8390"/>
          <a:stretch/>
        </p:blipFill>
        <p:spPr>
          <a:xfrm>
            <a:off x="1540144" y="287477"/>
            <a:ext cx="9111712" cy="6283046"/>
          </a:xfrm>
          <a:solidFill>
            <a:srgbClr val="FFC000"/>
          </a:solidFill>
        </p:spPr>
      </p:pic>
    </p:spTree>
    <p:extLst>
      <p:ext uri="{BB962C8B-B14F-4D97-AF65-F5344CB8AC3E}">
        <p14:creationId xmlns:p14="http://schemas.microsoft.com/office/powerpoint/2010/main" val="3206718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937652-6A52-F2CD-42A5-ABC5D38B1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59D86A5-5BB7-741C-4B86-8FB9617FB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586" r="14204" b="21197"/>
          <a:stretch/>
        </p:blipFill>
        <p:spPr>
          <a:xfrm>
            <a:off x="838200" y="0"/>
            <a:ext cx="10515600" cy="6871174"/>
          </a:xfrm>
        </p:spPr>
      </p:pic>
    </p:spTree>
    <p:extLst>
      <p:ext uri="{BB962C8B-B14F-4D97-AF65-F5344CB8AC3E}">
        <p14:creationId xmlns:p14="http://schemas.microsoft.com/office/powerpoint/2010/main" val="11155162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7AF15-2E56-886E-F696-8560538F7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A6DF6F9-03DD-D7E2-C57E-A5C0CC4A5A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873C52A-C591-6B21-B85C-58744DC5A613}"/>
              </a:ext>
            </a:extLst>
          </p:cNvPr>
          <p:cNvSpPr txBox="1"/>
          <p:nvPr/>
        </p:nvSpPr>
        <p:spPr>
          <a:xfrm>
            <a:off x="8854440" y="2690336"/>
            <a:ext cx="249936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Vamos colocar o nome do cliente e do destino, e vamos colocar umas quebras de linha com \n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0513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3D158-B243-B772-2120-383A25B0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948DE-DDC9-8456-B804-0E4ACBC21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8C19431-65F8-E1C9-EECE-450438B5C5A7}"/>
              </a:ext>
            </a:extLst>
          </p:cNvPr>
          <p:cNvSpPr txBox="1"/>
          <p:nvPr/>
        </p:nvSpPr>
        <p:spPr>
          <a:xfrm>
            <a:off x="8854440" y="2690336"/>
            <a:ext cx="249936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Para transferir, basta chamar o método </a:t>
            </a:r>
            <a:r>
              <a:rPr lang="pt-BR" dirty="0" err="1"/>
              <a:t>transferirPara</a:t>
            </a:r>
            <a:r>
              <a:rPr lang="pt-BR" dirty="0"/>
              <a:t> passando o valor e o objeto Conta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DD2192CA-4385-42C4-9EC3-60DE9E433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38764041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44AE4-440E-BB41-9347-7405E07A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029AE7-ADE1-408F-95BA-F36D08E90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8F918D0-7C39-988E-0FD2-98B1B4E5C951}"/>
              </a:ext>
            </a:extLst>
          </p:cNvPr>
          <p:cNvSpPr txBox="1"/>
          <p:nvPr/>
        </p:nvSpPr>
        <p:spPr>
          <a:xfrm>
            <a:off x="8854440" y="2690336"/>
            <a:ext cx="2499360" cy="147732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Podemos colocar qualquer nome aqui para as contas, como conta, conta2, destino, conta1 enfim...</a:t>
            </a: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65AB700-1650-E12D-54D0-B31A3CDE0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53331"/>
            <a:ext cx="7739489" cy="4351338"/>
          </a:xfrm>
        </p:spPr>
      </p:pic>
    </p:spTree>
    <p:extLst>
      <p:ext uri="{BB962C8B-B14F-4D97-AF65-F5344CB8AC3E}">
        <p14:creationId xmlns:p14="http://schemas.microsoft.com/office/powerpoint/2010/main" val="16169132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58B544-21A8-4CB6-F495-D725D5E17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BC80CD3-29CF-DC78-304B-2B001B5CF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093" y="0"/>
            <a:ext cx="10923814" cy="6858000"/>
          </a:xfrm>
        </p:spPr>
      </p:pic>
    </p:spTree>
    <p:extLst>
      <p:ext uri="{BB962C8B-B14F-4D97-AF65-F5344CB8AC3E}">
        <p14:creationId xmlns:p14="http://schemas.microsoft.com/office/powerpoint/2010/main" val="31498940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589933-5908-DB52-F52F-A79D5A646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EB2C5222-724B-038C-3551-E16E03212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3571" r="13178"/>
          <a:stretch/>
        </p:blipFill>
        <p:spPr>
          <a:xfrm>
            <a:off x="1115785" y="0"/>
            <a:ext cx="9960429" cy="6866224"/>
          </a:xfrm>
        </p:spPr>
      </p:pic>
    </p:spTree>
    <p:extLst>
      <p:ext uri="{BB962C8B-B14F-4D97-AF65-F5344CB8AC3E}">
        <p14:creationId xmlns:p14="http://schemas.microsoft.com/office/powerpoint/2010/main" val="3276530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9E702-CFB9-7CC6-DF8C-A746764A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B3992A6-CA41-16D0-55C1-BCB73F084D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-73859"/>
            <a:ext cx="10369331" cy="6931859"/>
          </a:xfrm>
        </p:spPr>
      </p:pic>
    </p:spTree>
    <p:extLst>
      <p:ext uri="{BB962C8B-B14F-4D97-AF65-F5344CB8AC3E}">
        <p14:creationId xmlns:p14="http://schemas.microsoft.com/office/powerpoint/2010/main" val="37185784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E0993-55DA-20CD-889D-846E03916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72A65B4-88CF-11BB-FE13-2DA50CAB3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8513" y="0"/>
            <a:ext cx="10134973" cy="6858000"/>
          </a:xfrm>
        </p:spPr>
      </p:pic>
    </p:spTree>
    <p:extLst>
      <p:ext uri="{BB962C8B-B14F-4D97-AF65-F5344CB8AC3E}">
        <p14:creationId xmlns:p14="http://schemas.microsoft.com/office/powerpoint/2010/main" val="4267987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BBF90-2EBA-37DC-8F34-58D054B6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C962C10-0CFD-217B-1CA2-D7CCC46AC7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2656"/>
            <a:ext cx="12192000" cy="6825343"/>
          </a:xfrm>
        </p:spPr>
      </p:pic>
    </p:spTree>
    <p:extLst>
      <p:ext uri="{BB962C8B-B14F-4D97-AF65-F5344CB8AC3E}">
        <p14:creationId xmlns:p14="http://schemas.microsoft.com/office/powerpoint/2010/main" val="146876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7822C-0356-4062-CC45-5A76C391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144977-89B6-FF00-74EF-B2424A06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6A4D30-BD07-DB3A-4413-0B512262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65504" cy="707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79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46FACA-D49A-9DFD-DDFA-70440E42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068382-4AF5-69EC-3A8D-A38104AC1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5EEF48-4155-E18F-B830-BDBFB3F7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4922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B8B609-7675-F8A9-9E1A-1D0209E2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5C70B-4268-47BF-15F2-844AE68D3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DFE0DF2-101C-E1D6-4F37-6DC79F881953}"/>
              </a:ext>
            </a:extLst>
          </p:cNvPr>
          <p:cNvSpPr/>
          <p:nvPr/>
        </p:nvSpPr>
        <p:spPr>
          <a:xfrm>
            <a:off x="3703864" y="1992086"/>
            <a:ext cx="4784271" cy="2873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Fabio Claret</a:t>
            </a:r>
          </a:p>
          <a:p>
            <a:pPr algn="ctr"/>
            <a:r>
              <a:rPr lang="pt-B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Cleiton Dias</a:t>
            </a:r>
          </a:p>
        </p:txBody>
      </p:sp>
    </p:spTree>
    <p:extLst>
      <p:ext uri="{BB962C8B-B14F-4D97-AF65-F5344CB8AC3E}">
        <p14:creationId xmlns:p14="http://schemas.microsoft.com/office/powerpoint/2010/main" val="24327907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1104</Words>
  <Application>Microsoft Office PowerPoint</Application>
  <PresentationFormat>Widescreen</PresentationFormat>
  <Paragraphs>65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Tema do Office</vt:lpstr>
      <vt:lpstr>Criando a classe Conta</vt:lpstr>
      <vt:lpstr>Métodos com parâmetros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Dica: Para criar as classes, Podemos usar java, Kotlin, c# ou qualquer outra linguagem orientada a objetos. E tambem qualquer IDE, como Netbeans, AndroidStudio, VisualStudio. Vamos fazer a classe no Netbeans e no Android. Para isso é so seguir o que tem no diagrama de classe: Comeca pelo nome, depois os atributos e finalmente os metodos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 Trigo de Oliveira</dc:creator>
  <cp:lastModifiedBy>Fabio Claret</cp:lastModifiedBy>
  <cp:revision>7</cp:revision>
  <dcterms:created xsi:type="dcterms:W3CDTF">2024-11-09T13:41:14Z</dcterms:created>
  <dcterms:modified xsi:type="dcterms:W3CDTF">2026-05-29T22:23:38Z</dcterms:modified>
</cp:coreProperties>
</file>